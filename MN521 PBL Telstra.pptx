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6" r:id="rId1"/>
  </p:sldMasterIdLst>
  <p:sldIdLst>
    <p:sldId id="264" r:id="rId2"/>
    <p:sldId id="268" r:id="rId3"/>
    <p:sldId id="265" r:id="rId4"/>
    <p:sldId id="257" r:id="rId5"/>
    <p:sldId id="266" r:id="rId6"/>
    <p:sldId id="267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1"/>
  </p:normalViewPr>
  <p:slideViewPr>
    <p:cSldViewPr snapToGrid="0">
      <p:cViewPr>
        <p:scale>
          <a:sx n="100" d="100"/>
          <a:sy n="100" d="100"/>
        </p:scale>
        <p:origin x="10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6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17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5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8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9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91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72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005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98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20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7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83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9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84DB40-88D6-FA4D-AFAC-24B32E34D5CC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54C39-8B3C-7143-A5BE-CD918B98F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77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  <p:sldLayoutId id="21474839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ential.com/" TargetMode="External"/><Relationship Id="rId2" Type="http://schemas.openxmlformats.org/officeDocument/2006/relationships/hyperlink" Target="https://www.cisco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81C5-94C4-7F92-6DF2-31B1C2EF0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41A0DC-1642-8653-51F1-82EC3B626E2D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75283-6788-2FB9-B5A5-E9629626A176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C73A2-51F0-9C6D-2F3B-73BC9C6BCEFF}"/>
              </a:ext>
            </a:extLst>
          </p:cNvPr>
          <p:cNvSpPr txBox="1"/>
          <p:nvPr/>
        </p:nvSpPr>
        <p:spPr>
          <a:xfrm>
            <a:off x="994530" y="1232829"/>
            <a:ext cx="8911470" cy="2238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Telstra International Automation: A Case Study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MN521 Network Automation – Project Based Learning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Erdenebayar Dovchindorj MIT251002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9 May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A5070-BB5A-A763-CC1C-15AE026ABC49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9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76FF-9C2C-C2A2-251E-B720D792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E91EF7-0232-DB96-DF8C-5554F2843878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08349-13B2-45AD-DC6E-65FE9E98DBEB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08889-B1E8-DE31-6007-0B0A45593F0D}"/>
              </a:ext>
            </a:extLst>
          </p:cNvPr>
          <p:cNvSpPr txBox="1"/>
          <p:nvPr/>
        </p:nvSpPr>
        <p:spPr>
          <a:xfrm>
            <a:off x="994530" y="1232829"/>
            <a:ext cx="3385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Introduction &amp;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4138A8-1510-41D7-955A-A003EEB3B94B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6FEE5D-F924-BE39-E868-1F3B20595A58}"/>
              </a:ext>
            </a:extLst>
          </p:cNvPr>
          <p:cNvSpPr txBox="1"/>
          <p:nvPr/>
        </p:nvSpPr>
        <p:spPr>
          <a:xfrm>
            <a:off x="994530" y="1793975"/>
            <a:ext cx="103973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Network Automation: key driver in modern telecoms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Telstra: Early automation adopter – now going global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Focus: Telstra International’s automation journey and Cisco partnership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Structure: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Company overview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Problems leading to automation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Automation strategy &amp; goals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Tools &amp; technologies used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Key use cases &amp; benefits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Lessons, pros, cons, and recommendations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008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CC5C-4AEE-120F-FFF8-15555478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69B1CB-FD5D-9878-2045-7FD359B7C9F6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2970E-F476-625C-FA56-702FAC437D87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B8E5E-7673-D429-348B-B595F9A427A7}"/>
              </a:ext>
            </a:extLst>
          </p:cNvPr>
          <p:cNvSpPr txBox="1"/>
          <p:nvPr/>
        </p:nvSpPr>
        <p:spPr>
          <a:xfrm>
            <a:off x="994530" y="1232829"/>
            <a:ext cx="5490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Telstra International – Network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CBA6B-4455-2569-0902-D293582CAC51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8E16FA-9DB8-CFBB-A5EB-87D5C5BF4EE5}"/>
              </a:ext>
            </a:extLst>
          </p:cNvPr>
          <p:cNvSpPr txBox="1"/>
          <p:nvPr/>
        </p:nvSpPr>
        <p:spPr>
          <a:xfrm>
            <a:off x="994530" y="1793975"/>
            <a:ext cx="103973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Largest Australian telecom provider; global footprint in 20 countries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Services: Wholesale, subsea, IP, Ethernet, voice, UC,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Over 400,000 km of cables, 3,500 employees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910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02073-6A9E-4D2A-DFDB-508E8F77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96396C-5EF0-929D-CFB1-94996DA60D8C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A3E81-9E8C-CD0F-94E2-68CEB4D027DF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MIT251002							                                               Erdenebayar Dovchindorj</a:t>
            </a:r>
            <a:endParaRPr lang="en-US" dirty="0"/>
          </a:p>
        </p:txBody>
      </p:sp>
      <p:pic>
        <p:nvPicPr>
          <p:cNvPr id="3" name="Picture 2" descr="A map of the world&#10;&#10;AI-generated content may be incorrect.">
            <a:extLst>
              <a:ext uri="{FF2B5EF4-FFF2-40B4-BE49-F238E27FC236}">
                <a16:creationId xmlns:a16="http://schemas.microsoft.com/office/drawing/2014/main" id="{12866CA4-7BC5-E276-E579-B8BD6D19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584200"/>
            <a:ext cx="8540750" cy="574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9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791C-877D-542C-E55D-2DE70A2A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17FF0D-D98A-D76E-2228-0E1D836B8FD2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AA461-34DF-F885-DC88-77B717B860DF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1F6A4-4FD9-3672-F8FD-4CE81346A8B0}"/>
              </a:ext>
            </a:extLst>
          </p:cNvPr>
          <p:cNvSpPr txBox="1"/>
          <p:nvPr/>
        </p:nvSpPr>
        <p:spPr>
          <a:xfrm>
            <a:off x="994530" y="1232829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and How – The Push for Automation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D0BB3-3BD9-9294-7869-5420EACFDD43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A5710-B712-2DEA-BD98-C235396E8325}"/>
              </a:ext>
            </a:extLst>
          </p:cNvPr>
          <p:cNvSpPr txBox="1"/>
          <p:nvPr/>
        </p:nvSpPr>
        <p:spPr>
          <a:xfrm>
            <a:off x="994530" y="1793975"/>
            <a:ext cx="105751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Problems faced: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High-profile outages due to manual errors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Too many manual touchpoints, error compounding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Small ops teams managing huge, complex networks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Automation goals: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Greater network resilience and reliability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Improved customer experience (faster provisioning, troubleshooting)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Standardized processes/frameworks for all teams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Operational simplification to meet cloud-driven demands</a:t>
            </a:r>
          </a:p>
        </p:txBody>
      </p:sp>
    </p:spTree>
    <p:extLst>
      <p:ext uri="{BB962C8B-B14F-4D97-AF65-F5344CB8AC3E}">
        <p14:creationId xmlns:p14="http://schemas.microsoft.com/office/powerpoint/2010/main" val="198293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DB4D-655C-ACC5-0670-B3CD528B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217E62-71CD-3AFC-3CDE-B837EA3C1336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898B9-E96E-4653-B755-E2E5F6AC714D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50DB6-7B51-F6E1-F61E-4178223A3FB3}"/>
              </a:ext>
            </a:extLst>
          </p:cNvPr>
          <p:cNvSpPr txBox="1"/>
          <p:nvPr/>
        </p:nvSpPr>
        <p:spPr>
          <a:xfrm>
            <a:off x="994530" y="1232829"/>
            <a:ext cx="48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Technologies &amp; Configuration 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FAFB66-1A71-EF3C-C56A-E59DC39C9618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634A6-E150-A32C-82FB-E1D6D628402B}"/>
              </a:ext>
            </a:extLst>
          </p:cNvPr>
          <p:cNvSpPr txBox="1"/>
          <p:nvPr/>
        </p:nvSpPr>
        <p:spPr>
          <a:xfrm>
            <a:off x="994530" y="1793975"/>
            <a:ext cx="105751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Cisco Network Services Orchestrator (NSO):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Automates provisioning, management across multi-vendor networks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Uses model-driven intent-based templates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Itential Automation Platform (IAP):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Integrates IT, inventory, analytics for end-to-end workflows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Enables cross-domain, multi-vendor automation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NSO + IAP manages various platforms: IP, Voice, Transport</a:t>
            </a:r>
          </a:p>
        </p:txBody>
      </p:sp>
    </p:spTree>
    <p:extLst>
      <p:ext uri="{BB962C8B-B14F-4D97-AF65-F5344CB8AC3E}">
        <p14:creationId xmlns:p14="http://schemas.microsoft.com/office/powerpoint/2010/main" val="343467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1D4E-A0BF-BAFA-548F-5268B20E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ED9E4-0202-1FE1-A030-BEFD220360E3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B95D21-ECBF-6C22-A7F9-FCD9A3F61EDE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EC55-E211-5B1E-B6FB-8F9B9BA0EE3E}"/>
              </a:ext>
            </a:extLst>
          </p:cNvPr>
          <p:cNvSpPr txBox="1"/>
          <p:nvPr/>
        </p:nvSpPr>
        <p:spPr>
          <a:xfrm>
            <a:off x="994530" y="1232829"/>
            <a:ext cx="636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Automates Use Cases &amp; Network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88E53-86B0-D682-3B10-002F958AECC4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AA099-5EA1-1B19-1104-2D9831AB53B6}"/>
              </a:ext>
            </a:extLst>
          </p:cNvPr>
          <p:cNvSpPr txBox="1"/>
          <p:nvPr/>
        </p:nvSpPr>
        <p:spPr>
          <a:xfrm>
            <a:off x="994530" y="1793975"/>
            <a:ext cx="109688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Automated device configs: routers, switches (e.g., OS upgrades, onboarding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Uses Cases in production: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IP network link lifecycle (routers, switches)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Day 1 templates for new devices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OS upgrades (Cisco, Juniper devices)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Voice SBC activation (Microsoft Teams integration)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Automated NNI (Network-to-Network Interface) provisioning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Benefits: Standard configs, fewer errors, faster rollouts, scalable ops</a:t>
            </a:r>
          </a:p>
        </p:txBody>
      </p:sp>
    </p:spTree>
    <p:extLst>
      <p:ext uri="{BB962C8B-B14F-4D97-AF65-F5344CB8AC3E}">
        <p14:creationId xmlns:p14="http://schemas.microsoft.com/office/powerpoint/2010/main" val="155733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90E6-BB23-E605-4A00-E43FE5EC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1164FA-1F32-AE00-6D7D-0E34C7192231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A79A4-13FF-376E-4B62-2B671466D918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61AF5-9F5E-0C1D-1912-A055582054D1}"/>
              </a:ext>
            </a:extLst>
          </p:cNvPr>
          <p:cNvSpPr txBox="1"/>
          <p:nvPr/>
        </p:nvSpPr>
        <p:spPr>
          <a:xfrm>
            <a:off x="994530" y="1232829"/>
            <a:ext cx="5347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Advantages, Challenges, and Solutions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B8AAC-CF55-528E-8A52-77C6218261EA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57C12-211C-C346-F0B8-90EAE2D1B891}"/>
              </a:ext>
            </a:extLst>
          </p:cNvPr>
          <p:cNvSpPr txBox="1"/>
          <p:nvPr/>
        </p:nvSpPr>
        <p:spPr>
          <a:xfrm>
            <a:off x="994530" y="1793975"/>
            <a:ext cx="109688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Advantages: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Fewer manual errors; higher uptime and SLA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Faster customer service activation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Consistent, scalable network 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Challenges: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Cultural change/ups-killing; staff retraining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Complexity of multi-vendor, multi-domain integration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Measuring and proving ROI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Solutions/Lessons: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roadmap; reuse learnings from domestic network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Partner with vendors for expertise</a:t>
            </a:r>
          </a:p>
        </p:txBody>
      </p:sp>
    </p:spTree>
    <p:extLst>
      <p:ext uri="{BB962C8B-B14F-4D97-AF65-F5344CB8AC3E}">
        <p14:creationId xmlns:p14="http://schemas.microsoft.com/office/powerpoint/2010/main" val="19467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6053-EF77-C3C0-41D1-DB8D7F39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FB973C-DBB8-21D2-C6B5-53E6E97DBCCD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1A61B-59B8-0A7D-115B-9B5E21BCA120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75DE7-A7BA-8C27-5F9A-9E5D8BD56B8A}"/>
              </a:ext>
            </a:extLst>
          </p:cNvPr>
          <p:cNvSpPr txBox="1"/>
          <p:nvPr/>
        </p:nvSpPr>
        <p:spPr>
          <a:xfrm>
            <a:off x="994530" y="1232829"/>
            <a:ext cx="6147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Recommendations &amp; Possible Improvements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0FD3C-33CD-E609-9F78-87102CD01E24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02CAB1-EB62-E7E8-7A13-D3F3C536AF3C}"/>
              </a:ext>
            </a:extLst>
          </p:cNvPr>
          <p:cNvSpPr txBox="1"/>
          <p:nvPr/>
        </p:nvSpPr>
        <p:spPr>
          <a:xfrm>
            <a:off x="994530" y="1793975"/>
            <a:ext cx="109688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Further unify control across IP and optical (ongoing goal)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Better training and transition support for staff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Adopt more open-source/network automation tools where possible (Ansible, Python,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Expand automation to IT and customer-facing services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Recommendation: Continuous measurement of outcome (uptime, speed, staff hours saved)</a:t>
            </a:r>
          </a:p>
        </p:txBody>
      </p:sp>
    </p:spTree>
    <p:extLst>
      <p:ext uri="{BB962C8B-B14F-4D97-AF65-F5344CB8AC3E}">
        <p14:creationId xmlns:p14="http://schemas.microsoft.com/office/powerpoint/2010/main" val="142287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5B68-6DD8-2A67-5E82-75533A25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785DDB-4110-325C-8BBF-5225B4F70ECA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85B04-40F3-B8B3-05F8-94E4AE238EF7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50D4D-86C5-0788-F37B-A301ECAC82F3}"/>
              </a:ext>
            </a:extLst>
          </p:cNvPr>
          <p:cNvSpPr txBox="1"/>
          <p:nvPr/>
        </p:nvSpPr>
        <p:spPr>
          <a:xfrm>
            <a:off x="994530" y="1232829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3800F-4EF6-60C6-B46F-BFEF01605880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66B1DC-38FA-D655-F31A-8FD4012AB21E}"/>
              </a:ext>
            </a:extLst>
          </p:cNvPr>
          <p:cNvSpPr txBox="1"/>
          <p:nvPr/>
        </p:nvSpPr>
        <p:spPr>
          <a:xfrm>
            <a:off x="994530" y="1793975"/>
            <a:ext cx="10968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Telstra International makes significant progress in automation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Major benefits: resilience, customer satisfaction, future-readiness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Still early in deployment – future: broader use cases, unified frameworks, measurable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75318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B1FF-B0A5-A7D5-8A1D-3D082886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63AB9-AD07-EF47-B64F-5B9A34A92849}"/>
              </a:ext>
            </a:extLst>
          </p:cNvPr>
          <p:cNvSpPr txBox="1"/>
          <p:nvPr/>
        </p:nvSpPr>
        <p:spPr>
          <a:xfrm>
            <a:off x="0" y="-14291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Melbourne Institute of Technology							 MN521 Network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D166C-93F5-9B0C-2EC9-669ED1C8B858}"/>
              </a:ext>
            </a:extLst>
          </p:cNvPr>
          <p:cNvSpPr txBox="1"/>
          <p:nvPr/>
        </p:nvSpPr>
        <p:spPr>
          <a:xfrm>
            <a:off x="0" y="65029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MIT251002							                                               Erdenebayar Dovchindorj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34CED-198A-E22F-6F6B-DA21EC695019}"/>
              </a:ext>
            </a:extLst>
          </p:cNvPr>
          <p:cNvSpPr txBox="1"/>
          <p:nvPr/>
        </p:nvSpPr>
        <p:spPr>
          <a:xfrm>
            <a:off x="994530" y="1232829"/>
            <a:ext cx="324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References (IEEE Style)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2B7C3-B0BF-F6B8-323F-ADA15DEBEFAF}"/>
              </a:ext>
            </a:extLst>
          </p:cNvPr>
          <p:cNvSpPr txBox="1"/>
          <p:nvPr/>
        </p:nvSpPr>
        <p:spPr>
          <a:xfrm>
            <a:off x="3771900" y="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1C714-0EEC-2C62-0F0F-B59AD3CF2659}"/>
              </a:ext>
            </a:extLst>
          </p:cNvPr>
          <p:cNvSpPr txBox="1"/>
          <p:nvPr/>
        </p:nvSpPr>
        <p:spPr>
          <a:xfrm>
            <a:off x="994530" y="1793975"/>
            <a:ext cx="10968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Content: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[1] Sterling Perrin, “Telstra Internation Automation: A Case Study”, Heavy Reading, July 2021.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[2] Cisco, “Cisco Network Services Orchestrator”, </a:t>
            </a:r>
            <a:r>
              <a:rPr lang="en-US" sz="2400" dirty="0">
                <a:hlinkClick r:id="rId2"/>
              </a:rPr>
              <a:t>https://www.cisco.com/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[3] Itential, “Itential Automation Platform”, </a:t>
            </a:r>
            <a:r>
              <a:rPr lang="en-US" sz="2400" dirty="0">
                <a:hlinkClick r:id="rId3"/>
              </a:rPr>
              <a:t>https://www.itential.com/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8001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833</Words>
  <Application>Microsoft Macintosh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erdenebayar dovchindorj</dc:creator>
  <cp:lastModifiedBy>erdenebayar dovchindorj</cp:lastModifiedBy>
  <cp:revision>15</cp:revision>
  <dcterms:created xsi:type="dcterms:W3CDTF">2025-05-08T13:30:33Z</dcterms:created>
  <dcterms:modified xsi:type="dcterms:W3CDTF">2025-05-08T14:22:46Z</dcterms:modified>
</cp:coreProperties>
</file>